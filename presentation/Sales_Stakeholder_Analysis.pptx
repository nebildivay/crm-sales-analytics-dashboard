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notesSlides/notesSlide4.xml" ContentType="application/vnd.openxmlformats-officedocument.presentationml.notes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notesSlides/notesSlide5.xml" ContentType="application/vnd.openxmlformats-officedocument.presentationml.notesSlide+xml"/>
  <Override PartName="/ppt/charts/chart4.xml" ContentType="application/vnd.openxmlformats-officedocument.drawingml.chart+xml"/>
  <Override PartName="/ppt/notesSlides/notesSlide6.xml" ContentType="application/vnd.openxmlformats-officedocument.presentationml.notesSlide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Sales amount</c:v>
                </c:pt>
              </c:strCache>
            </c:strRef>
          </c:tx>
          <c:spPr>
            <a:solidFill>
              <a:srgbClr val="14B8A6"/>
            </a:solidFill>
            <a:effectLst/>
          </c:spPr>
          <c:invertIfNegative val="0"/>
          <c:dLbls>
            <c:numFmt formatCode="0.00,,&quot;M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March</c:v>
                </c:pt>
                <c:pt idx="1">
                  <c:v>April</c:v>
                </c:pt>
                <c:pt idx="2">
                  <c:v>May</c:v>
                </c:pt>
                <c:pt idx="3">
                  <c:v>June</c:v>
                </c:pt>
                <c:pt idx="4">
                  <c:v>July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535000</c:v>
                </c:pt>
                <c:pt idx="1">
                  <c:v>842000</c:v>
                </c:pt>
                <c:pt idx="2">
                  <c:v>652000</c:v>
                </c:pt>
                <c:pt idx="3">
                  <c:v>742000</c:v>
                </c:pt>
                <c:pt idx="4">
                  <c:v>1072500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9CB-47A5-AD4D-E037C08A1D7D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Aptos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20000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200000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Total calls</c:v>
                </c:pt>
              </c:strCache>
            </c:strRef>
          </c:tx>
          <c:spPr>
            <a:solidFill>
              <a:srgbClr val="2F80ED"/>
            </a:solidFill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March</c:v>
                </c:pt>
                <c:pt idx="1">
                  <c:v>April</c:v>
                </c:pt>
                <c:pt idx="2">
                  <c:v>May</c:v>
                </c:pt>
                <c:pt idx="3">
                  <c:v>June</c:v>
                </c:pt>
                <c:pt idx="4">
                  <c:v>July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553</c:v>
                </c:pt>
                <c:pt idx="1">
                  <c:v>675</c:v>
                </c:pt>
                <c:pt idx="2">
                  <c:v>700</c:v>
                </c:pt>
                <c:pt idx="3">
                  <c:v>760</c:v>
                </c:pt>
                <c:pt idx="4">
                  <c:v>820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DF9-462B-8494-74C8DAD50393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Closed sales</c:v>
                </c:pt>
              </c:strCache>
            </c:strRef>
          </c:tx>
          <c:spPr>
            <a:solidFill>
              <a:srgbClr val="2E9D68"/>
            </a:solidFill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March</c:v>
                </c:pt>
                <c:pt idx="1">
                  <c:v>April</c:v>
                </c:pt>
                <c:pt idx="2">
                  <c:v>May</c:v>
                </c:pt>
                <c:pt idx="3">
                  <c:v>June</c:v>
                </c:pt>
                <c:pt idx="4">
                  <c:v>July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31</c:v>
                </c:pt>
                <c:pt idx="1">
                  <c:v>35</c:v>
                </c:pt>
                <c:pt idx="2">
                  <c:v>38</c:v>
                </c:pt>
                <c:pt idx="3">
                  <c:v>41</c:v>
                </c:pt>
                <c:pt idx="4">
                  <c:v>45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7DF9-462B-8494-74C8DAD5039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90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150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/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Close rate</c:v>
                </c:pt>
              </c:strCache>
            </c:strRef>
          </c:tx>
          <c:spPr>
            <a:ln w="38100" cap="flat">
              <a:solidFill>
                <a:srgbClr val="F59E0B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F59E0B"/>
              </a:solidFill>
              <a:ln w="9525" cap="flat">
                <a:solidFill>
                  <a:srgbClr val="F59E0B"/>
                </a:solidFill>
                <a:prstDash val="solid"/>
                <a:round/>
              </a:ln>
              <a:effectLst/>
            </c:spPr>
          </c:marker>
          <c:dLbls>
            <c:numFmt formatCode="0.0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March</c:v>
                </c:pt>
                <c:pt idx="1">
                  <c:v>April</c:v>
                </c:pt>
                <c:pt idx="2">
                  <c:v>May</c:v>
                </c:pt>
                <c:pt idx="3">
                  <c:v>June</c:v>
                </c:pt>
                <c:pt idx="4">
                  <c:v>July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5.6058000000000003</c:v>
                </c:pt>
                <c:pt idx="1">
                  <c:v>5.1852</c:v>
                </c:pt>
                <c:pt idx="2">
                  <c:v>5.4286000000000003</c:v>
                </c:pt>
                <c:pt idx="3">
                  <c:v>5.3947000000000003</c:v>
                </c:pt>
                <c:pt idx="4">
                  <c:v>5.4878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5A10-46BD-A0C7-C7B428B247C5}"/>
            </c:ext>
          </c:extLst>
        </c:ser>
        <c:dLbls>
          <c:dLblPos val="t"/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5.8"/>
          <c:min val="4.8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0.2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Sales per call</c:v>
                </c:pt>
              </c:strCache>
            </c:strRef>
          </c:tx>
          <c:spPr>
            <a:solidFill>
              <a:srgbClr val="7C5CFC"/>
            </a:solidFill>
            <a:effectLst/>
          </c:spPr>
          <c:invertIfNegative val="0"/>
          <c:dLbls>
            <c:numFmt formatCode="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March</c:v>
                </c:pt>
                <c:pt idx="1">
                  <c:v>April</c:v>
                </c:pt>
                <c:pt idx="2">
                  <c:v>May</c:v>
                </c:pt>
                <c:pt idx="3">
                  <c:v>June</c:v>
                </c:pt>
                <c:pt idx="4">
                  <c:v>July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967.45027124773958</c:v>
                </c:pt>
                <c:pt idx="1">
                  <c:v>1247.4074074074074</c:v>
                </c:pt>
                <c:pt idx="2">
                  <c:v>931.42857142857144</c:v>
                </c:pt>
                <c:pt idx="3">
                  <c:v>976.31578947368416</c:v>
                </c:pt>
                <c:pt idx="4">
                  <c:v>1307.9268292682927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F9D-41E7-87C7-F06380BD3DC7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50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250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Calls</c:v>
                </c:pt>
              </c:strCache>
            </c:strRef>
          </c:tx>
          <c:spPr>
            <a:solidFill>
              <a:srgbClr val="2F80ED"/>
            </a:solidFill>
            <a:effectLst/>
          </c:spPr>
          <c:invertIfNegative val="0"/>
          <c:dLbls>
            <c:numFmt formatCode="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0–2 min</c:v>
                </c:pt>
                <c:pt idx="1">
                  <c:v>2–4 min</c:v>
                </c:pt>
                <c:pt idx="2">
                  <c:v>4–6 min</c:v>
                </c:pt>
                <c:pt idx="3">
                  <c:v>6+ min</c:v>
                </c:pt>
                <c:pt idx="4">
                  <c:v>No duration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1482</c:v>
                </c:pt>
                <c:pt idx="1">
                  <c:v>170</c:v>
                </c:pt>
                <c:pt idx="2">
                  <c:v>29</c:v>
                </c:pt>
                <c:pt idx="3">
                  <c:v>29</c:v>
                </c:pt>
                <c:pt idx="4">
                  <c:v>1798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532-4239-9F3B-DEF41E26509A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200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400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Sales amount</c:v>
                </c:pt>
              </c:strCache>
            </c:strRef>
          </c:tx>
          <c:spPr>
            <a:solidFill>
              <a:srgbClr val="14B8A6"/>
            </a:solidFill>
            <a:effectLst/>
          </c:spPr>
          <c:invertIfNegative val="0"/>
          <c:dLbls>
            <c:numFmt formatCode="0.00,,&quot;M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0–2 min</c:v>
                </c:pt>
                <c:pt idx="1">
                  <c:v>2–4 min</c:v>
                </c:pt>
                <c:pt idx="2">
                  <c:v>4–6 min</c:v>
                </c:pt>
                <c:pt idx="3">
                  <c:v>6+ min</c:v>
                </c:pt>
                <c:pt idx="4">
                  <c:v>No duration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2963500</c:v>
                </c:pt>
                <c:pt idx="1">
                  <c:v>385000</c:v>
                </c:pt>
                <c:pt idx="2">
                  <c:v>17500</c:v>
                </c:pt>
                <c:pt idx="3">
                  <c:v>117500</c:v>
                </c:pt>
                <c:pt idx="4">
                  <c:v>360000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E79-4F95-B600-040DAB153499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320000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800000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51CD9AE-D499-4DF8-8DB9-E378AAE13DB8}" type="datetimeFigureOut">
              <a:t>8/26/2026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38413A8-2C86-4819-BD5F-BB1EA9D6650C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17797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Sales.xlsx, workbook pivot tables and dashboard values supplied by the user.
[/Sources]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Sales.xlsx, workbook pivot tables and dashboard values supplied by the user.
[/Sources]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Sales.xlsx, workbook pivot tables and dashboard values supplied by the user.
[/Sources]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Sales.xlsx, workbook pivot tables and dashboard values supplied by the user.
[/Sources]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Sales.xlsx, workbook pivot tables and dashboard values supplied by the user.
[/Sources]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Sales.xlsx, workbook pivot tables and dashboard values supplied by the user.
[/Sources]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Sales.xlsx, workbook pivot tables and dashboard values supplied by the user.
[/Sources]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Sales.xlsx, workbook pivot tables and dashboard values supplied by the user.
[/Sources]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Sales.xlsx, workbook pivot tables and dashboard values supplied by the user.
[/Sources]
Recommendations are analytical suggestions based on the workbook, not source claims.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Sales.xlsx, workbook pivot tables and dashboard values supplied by the user.
[/Sources]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510528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1809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Sales performance review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9418320" y="6510528"/>
            <a:ext cx="2240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71809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Sales.xlsx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718096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718096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chart" Target="../charts/char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chart" Target="../charts/char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3B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3B4A"/>
          </a:solidFill>
          <a:ln w="12700">
            <a:solidFill>
              <a:srgbClr val="123B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652760" y="320040"/>
            <a:ext cx="914400" cy="914400"/>
          </a:xfrm>
          <a:prstGeom prst="ellipse">
            <a:avLst/>
          </a:prstGeom>
          <a:solidFill>
            <a:srgbClr val="14B8A6">
              <a:alpha val="92000"/>
            </a:srgbClr>
          </a:solidFill>
          <a:ln w="12700">
            <a:solidFill>
              <a:srgbClr val="14B8A6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784080" y="4251960"/>
            <a:ext cx="2011680" cy="2011680"/>
          </a:xfrm>
          <a:prstGeom prst="ellipse">
            <a:avLst/>
          </a:prstGeom>
          <a:solidFill>
            <a:srgbClr val="2F80ED">
              <a:alpha val="82000"/>
            </a:srgbClr>
          </a:solidFill>
          <a:ln w="12700">
            <a:solidFill>
              <a:srgbClr val="2F80ED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658368"/>
            <a:ext cx="1645920" cy="310896"/>
          </a:xfrm>
          <a:prstGeom prst="roundRect">
            <a:avLst>
              <a:gd name="adj" fmla="val 23529"/>
            </a:avLst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58952" y="713232"/>
            <a:ext cx="14996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STAKEHOLDER BRIEFING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85800" y="1325880"/>
            <a:ext cx="68580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Sales performance</a:t>
            </a:r>
            <a:endParaRPr lang="en-US" sz="3400" dirty="0"/>
          </a:p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and call conversion review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713232" y="2971800"/>
            <a:ext cx="6492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D7E5EA"/>
                </a:solidFill>
              </a:rPr>
              <a:t>A decision-focused analysis of the workbook data model, dashboard KPIs and exploratory pivots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13232" y="3977640"/>
            <a:ext cx="2011680" cy="0"/>
          </a:xfrm>
          <a:prstGeom prst="line">
            <a:avLst/>
          </a:prstGeom>
          <a:noFill/>
          <a:ln w="50800">
            <a:solidFill>
              <a:srgbClr val="14B8A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13232" y="425196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7CCD5"/>
                </a:solidFill>
              </a:rPr>
              <a:t>March to July | Prepared for stakeholder discussion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732520" y="132588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</a:rPr>
              <a:t>3.84M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8732520" y="1993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CDE2E8"/>
                </a:solidFill>
              </a:rPr>
              <a:t>TOTAL SALES AMOUNT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8732520" y="2862072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</a:rPr>
              <a:t>5.42%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8732520" y="3529584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CDE2E8"/>
                </a:solidFill>
              </a:rPr>
              <a:t>CLOSE RATE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718096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23B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Executive snapshot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66928" y="768096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</a:rPr>
              <a:t>The dashboard shows strong topline momentum, while conversion remains essentially stable.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94360" y="1234440"/>
            <a:ext cx="205740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0160">
            <a:solidFill>
              <a:srgbClr val="DCE5EC"/>
            </a:solidFill>
            <a:prstDash val="solid"/>
          </a:ln>
          <a:effectLst>
            <a:outerShdw blurRad="15240" dist="635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94360" y="1234440"/>
            <a:ext cx="73152" cy="123444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399032"/>
            <a:ext cx="1691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64748B"/>
                </a:solidFill>
              </a:rPr>
              <a:t>SALES AMOUNT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22960" y="1719072"/>
            <a:ext cx="1691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1E293B"/>
                </a:solidFill>
              </a:rPr>
              <a:t>3.84M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822960" y="2286000"/>
            <a:ext cx="16916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Across March to July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816352" y="1234440"/>
            <a:ext cx="205740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0160">
            <a:solidFill>
              <a:srgbClr val="DCE5EC"/>
            </a:solidFill>
            <a:prstDash val="solid"/>
          </a:ln>
          <a:effectLst>
            <a:outerShdw blurRad="15240" dist="635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816352" y="1234440"/>
            <a:ext cx="73152" cy="1234440"/>
          </a:xfrm>
          <a:prstGeom prst="rect">
            <a:avLst/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044952" y="1399032"/>
            <a:ext cx="1691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64748B"/>
                </a:solidFill>
              </a:rPr>
              <a:t>TOTAL CALLS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044952" y="1719072"/>
            <a:ext cx="1691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1E293B"/>
                </a:solidFill>
              </a:rPr>
              <a:t>3,508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3044952" y="2286000"/>
            <a:ext cx="16916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820 calls in July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038344" y="1234440"/>
            <a:ext cx="205740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0160">
            <a:solidFill>
              <a:srgbClr val="DCE5EC"/>
            </a:solidFill>
            <a:prstDash val="solid"/>
          </a:ln>
          <a:effectLst>
            <a:outerShdw blurRad="15240" dist="635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038344" y="1234440"/>
            <a:ext cx="73152" cy="1234440"/>
          </a:xfrm>
          <a:prstGeom prst="rect">
            <a:avLst/>
          </a:prstGeom>
          <a:solidFill>
            <a:srgbClr val="2E9D68"/>
          </a:solidFill>
          <a:ln w="12700">
            <a:solidFill>
              <a:srgbClr val="2E9D6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266944" y="1399032"/>
            <a:ext cx="1691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64748B"/>
                </a:solidFill>
              </a:rPr>
              <a:t>CLOSED SALES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266944" y="1719072"/>
            <a:ext cx="1691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1E293B"/>
                </a:solidFill>
              </a:rPr>
              <a:t>190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5266944" y="2286000"/>
            <a:ext cx="16916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45 in July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7260336" y="1234440"/>
            <a:ext cx="205740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0160">
            <a:solidFill>
              <a:srgbClr val="DCE5EC"/>
            </a:solidFill>
            <a:prstDash val="solid"/>
          </a:ln>
          <a:effectLst>
            <a:outerShdw blurRad="15240" dist="635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260336" y="1234440"/>
            <a:ext cx="73152" cy="12344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488936" y="1399032"/>
            <a:ext cx="1691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64748B"/>
                </a:solidFill>
              </a:rPr>
              <a:t>CLOSE RATE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7488936" y="1719072"/>
            <a:ext cx="1691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1E293B"/>
                </a:solidFill>
              </a:rPr>
              <a:t>5.42%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7488936" y="2286000"/>
            <a:ext cx="16916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Monthly range: 5.19%–5.61%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482328" y="1234440"/>
            <a:ext cx="205740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0160">
            <a:solidFill>
              <a:srgbClr val="DCE5EC"/>
            </a:solidFill>
            <a:prstDash val="solid"/>
          </a:ln>
          <a:effectLst>
            <a:outerShdw blurRad="15240" dist="635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9482328" y="1234440"/>
            <a:ext cx="73152" cy="1234440"/>
          </a:xfrm>
          <a:prstGeom prst="rect">
            <a:avLst/>
          </a:prstGeom>
          <a:solidFill>
            <a:srgbClr val="7C5CFC"/>
          </a:solidFill>
          <a:ln w="12700">
            <a:solidFill>
              <a:srgbClr val="7C5CF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710928" y="1399032"/>
            <a:ext cx="1691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64748B"/>
                </a:solidFill>
              </a:rPr>
              <a:t>AVG DURATION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9710928" y="1719072"/>
            <a:ext cx="1691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1E293B"/>
                </a:solidFill>
              </a:rPr>
              <a:t>66 sec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9710928" y="2286000"/>
            <a:ext cx="16916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Workbook dashboard rounding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594360" y="2834640"/>
            <a:ext cx="6629400" cy="3127248"/>
          </a:xfrm>
          <a:prstGeom prst="roundRect">
            <a:avLst>
              <a:gd name="adj" fmla="val 2339"/>
            </a:avLst>
          </a:prstGeom>
          <a:solidFill>
            <a:srgbClr val="FFFFFF"/>
          </a:solidFill>
          <a:ln w="12700">
            <a:solidFill>
              <a:srgbClr val="DCE5E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68680" y="310896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23B4A"/>
                </a:solidFill>
              </a:rPr>
              <a:t>What stakeholders should know</a:t>
            </a:r>
            <a:endParaRPr lang="en-US" sz="1700" dirty="0"/>
          </a:p>
        </p:txBody>
      </p:sp>
      <p:sp>
        <p:nvSpPr>
          <p:cNvPr id="31" name="Shape 29"/>
          <p:cNvSpPr/>
          <p:nvPr/>
        </p:nvSpPr>
        <p:spPr>
          <a:xfrm>
            <a:off x="896112" y="3630168"/>
            <a:ext cx="164592" cy="164592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170432" y="3611880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</a:rPr>
              <a:t>July is the strongest month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3154680" y="3611880"/>
            <a:ext cx="3611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1.07M sales amount, 27.8% of the five-month total.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896112" y="4178808"/>
            <a:ext cx="164592" cy="164592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170432" y="4160520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</a:rPr>
              <a:t>Growth is volume-led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3154680" y="4160520"/>
            <a:ext cx="3611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Calls increased 48.3% from March to July; close rate stayed near 5.4%.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896112" y="4727448"/>
            <a:ext cx="164592" cy="164592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170432" y="4709160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</a:rPr>
              <a:t>Efficiency improved in July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3154680" y="4709160"/>
            <a:ext cx="3611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Sales per call reached 1,308, the highest month in the workbook.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896112" y="5276088"/>
            <a:ext cx="164592" cy="16459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170432" y="5257800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</a:rPr>
              <a:t>Measurement gaps matter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3154680" y="5257800"/>
            <a:ext cx="3611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51.3% of calls have no duration value, limiting call-quality analysis.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7543800" y="2834640"/>
            <a:ext cx="4005072" cy="3127248"/>
          </a:xfrm>
          <a:prstGeom prst="roundRect">
            <a:avLst>
              <a:gd name="adj" fmla="val 2339"/>
            </a:avLst>
          </a:prstGeom>
          <a:solidFill>
            <a:srgbClr val="E7F8F5"/>
          </a:solidFill>
          <a:ln w="12700">
            <a:solidFill>
              <a:srgbClr val="B8E8DF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845552" y="315468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23B4A"/>
                </a:solidFill>
              </a:rPr>
              <a:t>Core message</a:t>
            </a:r>
            <a:endParaRPr lang="en-US" sz="1500" dirty="0"/>
          </a:p>
        </p:txBody>
      </p:sp>
      <p:sp>
        <p:nvSpPr>
          <p:cNvPr id="45" name="Text 43"/>
          <p:cNvSpPr/>
          <p:nvPr/>
        </p:nvSpPr>
        <p:spPr>
          <a:xfrm>
            <a:off x="7845552" y="370332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23B4A"/>
                </a:solidFill>
              </a:rPr>
              <a:t>Sales growth is outpacing conversion improvement.</a:t>
            </a:r>
            <a:endParaRPr lang="en-US" sz="2300" dirty="0"/>
          </a:p>
        </p:txBody>
      </p:sp>
      <p:sp>
        <p:nvSpPr>
          <p:cNvPr id="46" name="Text 44"/>
          <p:cNvSpPr/>
          <p:nvPr/>
        </p:nvSpPr>
        <p:spPr>
          <a:xfrm>
            <a:off x="7845552" y="4828032"/>
            <a:ext cx="324612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</a:rPr>
              <a:t>The next performance unlock is not simply more calls. It is better lead quality, stronger call outcomes and more complete measurement.</a:t>
            </a:r>
            <a:endParaRPr lang="en-US" sz="1250" dirty="0"/>
          </a:p>
        </p:txBody>
      </p:sp>
      <p:sp>
        <p:nvSpPr>
          <p:cNvPr id="47" name="Shape 45"/>
          <p:cNvSpPr/>
          <p:nvPr/>
        </p:nvSpPr>
        <p:spPr>
          <a:xfrm>
            <a:off x="548640" y="6364224"/>
            <a:ext cx="11109960" cy="0"/>
          </a:xfrm>
          <a:prstGeom prst="line">
            <a:avLst/>
          </a:prstGeom>
          <a:noFill/>
          <a:ln w="8890">
            <a:solidFill>
              <a:srgbClr val="D6E0E8"/>
            </a:solidFill>
            <a:prstDash val="solid"/>
          </a:ln>
        </p:spPr>
      </p:sp>
      <p:sp>
        <p:nvSpPr>
          <p:cNvPr id="4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718096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23B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Sales momentum accelerates into July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66928" y="768096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</a:rPr>
              <a:t>Monthly sales amount grew 100.5% from March to July, despite volatility in May.</a:t>
            </a:r>
            <a:endParaRPr lang="en-US" sz="115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685800" y="1325880"/>
          <a:ext cx="7315200" cy="4343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8321040" y="1371600"/>
            <a:ext cx="3246120" cy="1143000"/>
          </a:xfrm>
          <a:prstGeom prst="roundRect">
            <a:avLst>
              <a:gd name="adj" fmla="val 6400"/>
            </a:avLst>
          </a:prstGeom>
          <a:solidFill>
            <a:srgbClr val="123B4A"/>
          </a:solidFill>
          <a:ln w="12700">
            <a:solidFill>
              <a:srgbClr val="123B4A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595360" y="1609344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B9D7DF"/>
                </a:solidFill>
              </a:rPr>
              <a:t>JULY PEAK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8577072" y="1856232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1.07M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10241280" y="1956816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9E7EB"/>
                </a:solidFill>
              </a:rPr>
              <a:t>27.8% of total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8394192" y="2852928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23B4A"/>
                </a:solidFill>
              </a:rPr>
              <a:t>Month-over-month movement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8412480" y="333756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April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9646920" y="333756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2E9D68"/>
                </a:solidFill>
              </a:rPr>
              <a:t>+57.4%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8412480" y="384048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May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9646920" y="384048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E05252"/>
                </a:solidFill>
              </a:rPr>
              <a:t>−22.6%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8412480" y="434340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June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9646920" y="434340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2E9D68"/>
                </a:solidFill>
              </a:rPr>
              <a:t>+13.8%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8412480" y="484632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July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9646920" y="484632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2E9D68"/>
                </a:solidFill>
              </a:rPr>
              <a:t>+44.5%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8412480" y="5413248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9E0B"/>
                </a:solidFill>
              </a:rPr>
              <a:t>Interpretation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9464040" y="5285232"/>
            <a:ext cx="2148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</a:rPr>
              <a:t>July combines the highest call volume with the highest sales amount, making it the best month to study for repeatable practices.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548640" y="6364224"/>
            <a:ext cx="11109960" cy="0"/>
          </a:xfrm>
          <a:prstGeom prst="line">
            <a:avLst/>
          </a:prstGeom>
          <a:noFill/>
          <a:ln w="8890">
            <a:solidFill>
              <a:srgbClr val="D6E0E8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718096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23B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Activity grew, conversion did not materially change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66928" y="768096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</a:rPr>
              <a:t>The close rate stayed within a narrow 0.42 percentage-point band.</a:t>
            </a:r>
            <a:endParaRPr lang="en-US" sz="115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640080" y="1325880"/>
          <a:ext cx="6720840" cy="45262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5" name="Chart 1"/>
          <p:cNvGraphicFramePr/>
          <p:nvPr/>
        </p:nvGraphicFramePr>
        <p:xfrm>
          <a:off x="7635240" y="1325880"/>
          <a:ext cx="3886200" cy="2331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6" name="Shape 2"/>
          <p:cNvSpPr/>
          <p:nvPr/>
        </p:nvSpPr>
        <p:spPr>
          <a:xfrm>
            <a:off x="7635240" y="3886200"/>
            <a:ext cx="388620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DCE5EC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7909560" y="4187952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23B4A"/>
                </a:solidFill>
              </a:rPr>
              <a:t>Funnel view</a:t>
            </a:r>
            <a:endParaRPr lang="en-US" sz="1400" dirty="0"/>
          </a:p>
        </p:txBody>
      </p:sp>
      <p:sp>
        <p:nvSpPr>
          <p:cNvPr id="8" name="Text 4"/>
          <p:cNvSpPr/>
          <p:nvPr/>
        </p:nvSpPr>
        <p:spPr>
          <a:xfrm>
            <a:off x="7909560" y="4617720"/>
            <a:ext cx="1051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2F80ED"/>
                </a:solidFill>
              </a:rPr>
              <a:t>3,508</a:t>
            </a:r>
            <a:endParaRPr lang="en-US" sz="2300" dirty="0"/>
          </a:p>
        </p:txBody>
      </p:sp>
      <p:sp>
        <p:nvSpPr>
          <p:cNvPr id="9" name="Text 5"/>
          <p:cNvSpPr/>
          <p:nvPr/>
        </p:nvSpPr>
        <p:spPr>
          <a:xfrm>
            <a:off x="7909560" y="502920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calls</a:t>
            </a:r>
            <a:endParaRPr lang="en-US" sz="1000" dirty="0"/>
          </a:p>
        </p:txBody>
      </p:sp>
      <p:sp>
        <p:nvSpPr>
          <p:cNvPr id="10" name="Text 6"/>
          <p:cNvSpPr/>
          <p:nvPr/>
        </p:nvSpPr>
        <p:spPr>
          <a:xfrm>
            <a:off x="9015984" y="4681728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64748B"/>
                </a:solidFill>
              </a:rPr>
              <a:t>→</a:t>
            </a:r>
            <a:endParaRPr lang="en-US" sz="2000" dirty="0"/>
          </a:p>
        </p:txBody>
      </p:sp>
      <p:sp>
        <p:nvSpPr>
          <p:cNvPr id="11" name="Text 7"/>
          <p:cNvSpPr/>
          <p:nvPr/>
        </p:nvSpPr>
        <p:spPr>
          <a:xfrm>
            <a:off x="9464040" y="4617720"/>
            <a:ext cx="822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2E9D68"/>
                </a:solidFill>
              </a:rPr>
              <a:t>190</a:t>
            </a:r>
            <a:endParaRPr lang="en-US" sz="2300" dirty="0"/>
          </a:p>
        </p:txBody>
      </p:sp>
      <p:sp>
        <p:nvSpPr>
          <p:cNvPr id="12" name="Text 8"/>
          <p:cNvSpPr/>
          <p:nvPr/>
        </p:nvSpPr>
        <p:spPr>
          <a:xfrm>
            <a:off x="9464040" y="5029200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closed</a:t>
            </a:r>
            <a:endParaRPr lang="en-US" sz="1000" dirty="0"/>
          </a:p>
        </p:txBody>
      </p:sp>
      <p:sp>
        <p:nvSpPr>
          <p:cNvPr id="13" name="Text 9"/>
          <p:cNvSpPr/>
          <p:nvPr/>
        </p:nvSpPr>
        <p:spPr>
          <a:xfrm>
            <a:off x="10378440" y="4617720"/>
            <a:ext cx="868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59E0B"/>
                </a:solidFill>
              </a:rPr>
              <a:t>5.42%</a:t>
            </a:r>
            <a:endParaRPr lang="en-US" sz="2000" dirty="0"/>
          </a:p>
        </p:txBody>
      </p:sp>
      <p:sp>
        <p:nvSpPr>
          <p:cNvPr id="14" name="Text 10"/>
          <p:cNvSpPr/>
          <p:nvPr/>
        </p:nvSpPr>
        <p:spPr>
          <a:xfrm>
            <a:off x="10378440" y="502920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conversion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548640" y="6364224"/>
            <a:ext cx="11109960" cy="0"/>
          </a:xfrm>
          <a:prstGeom prst="line">
            <a:avLst/>
          </a:prstGeom>
          <a:noFill/>
          <a:ln w="8890">
            <a:solidFill>
              <a:srgbClr val="D6E0E8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718096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23B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July shows the strongest sales efficiency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66928" y="768096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</a:rPr>
              <a:t>Sales per call reaches 1,308, 19.4% above the five-month average.</a:t>
            </a:r>
            <a:endParaRPr lang="en-US" sz="115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685800" y="1325880"/>
          <a:ext cx="7223760" cy="4434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8321040" y="1417320"/>
            <a:ext cx="315468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0160">
            <a:solidFill>
              <a:srgbClr val="DCE5EC"/>
            </a:solidFill>
            <a:prstDash val="solid"/>
          </a:ln>
          <a:effectLst>
            <a:outerShdw blurRad="15240" dist="635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8321040" y="1417320"/>
            <a:ext cx="73152" cy="1143000"/>
          </a:xfrm>
          <a:prstGeom prst="rect">
            <a:avLst/>
          </a:prstGeom>
          <a:solidFill>
            <a:srgbClr val="7C5CFC"/>
          </a:solidFill>
          <a:ln w="12700">
            <a:solidFill>
              <a:srgbClr val="7C5CFC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549640" y="1581912"/>
            <a:ext cx="2788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64748B"/>
                </a:solidFill>
              </a:rPr>
              <a:t>FIVE-MONTH SALES/CALL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8549640" y="1901952"/>
            <a:ext cx="2788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1E293B"/>
                </a:solidFill>
              </a:rPr>
              <a:t>1,096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8549640" y="2377440"/>
            <a:ext cx="2788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3.84M ÷ 3,508 calls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8321040" y="2788920"/>
            <a:ext cx="315468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0160">
            <a:solidFill>
              <a:srgbClr val="DCE5EC"/>
            </a:solidFill>
            <a:prstDash val="solid"/>
          </a:ln>
          <a:effectLst>
            <a:outerShdw blurRad="15240" dist="635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8321040" y="2788920"/>
            <a:ext cx="73152" cy="1143000"/>
          </a:xfrm>
          <a:prstGeom prst="rect">
            <a:avLst/>
          </a:prstGeom>
          <a:solidFill>
            <a:srgbClr val="2E9D68"/>
          </a:solidFill>
          <a:ln w="12700">
            <a:solidFill>
              <a:srgbClr val="2E9D6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549640" y="2953512"/>
            <a:ext cx="2788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64748B"/>
                </a:solidFill>
              </a:rPr>
              <a:t>SALES PER CLOSED SALE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8549640" y="3273552"/>
            <a:ext cx="2788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1E293B"/>
                </a:solidFill>
              </a:rPr>
              <a:t>20,229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8549640" y="3749040"/>
            <a:ext cx="2788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3.84M ÷ 190 closes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8321040" y="4160520"/>
            <a:ext cx="315468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0160">
            <a:solidFill>
              <a:srgbClr val="DCE5EC"/>
            </a:solidFill>
            <a:prstDash val="solid"/>
          </a:ln>
          <a:effectLst>
            <a:outerShdw blurRad="15240" dist="635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8321040" y="4160520"/>
            <a:ext cx="73152" cy="132588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549640" y="4325112"/>
            <a:ext cx="2788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64748B"/>
                </a:solidFill>
              </a:rPr>
              <a:t>JULY VS MARCH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8549640" y="4645152"/>
            <a:ext cx="2788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1E293B"/>
                </a:solidFill>
              </a:rPr>
              <a:t>+35.2%</a:t>
            </a:r>
            <a:endParaRPr lang="en-US" sz="2200" dirty="0"/>
          </a:p>
        </p:txBody>
      </p:sp>
      <p:sp>
        <p:nvSpPr>
          <p:cNvPr id="19" name="Text 16"/>
          <p:cNvSpPr/>
          <p:nvPr/>
        </p:nvSpPr>
        <p:spPr>
          <a:xfrm>
            <a:off x="8549640" y="5303520"/>
            <a:ext cx="2788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Sales per call improvement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8412480" y="5623560"/>
            <a:ext cx="2926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</a:rPr>
              <a:t>Efficiency is improving faster than conversion, indicating that the value mix of closed sales also matters.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548640" y="6364224"/>
            <a:ext cx="11109960" cy="0"/>
          </a:xfrm>
          <a:prstGeom prst="line">
            <a:avLst/>
          </a:prstGeom>
          <a:noFill/>
          <a:ln w="8890">
            <a:solidFill>
              <a:srgbClr val="D6E0E8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718096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23B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EDA: call duration analysis is limited by missing data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66928" y="768096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</a:rPr>
              <a:t>More than half of calls have no duration value, even though they represent 9.4% of sales amount.</a:t>
            </a:r>
            <a:endParaRPr lang="en-US" sz="115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640080" y="1417320"/>
          <a:ext cx="5303520" cy="4206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5" name="Chart 1"/>
          <p:cNvGraphicFramePr/>
          <p:nvPr/>
        </p:nvGraphicFramePr>
        <p:xfrm>
          <a:off x="6172200" y="1417320"/>
          <a:ext cx="5349240" cy="4206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6" name="Text 2"/>
          <p:cNvSpPr/>
          <p:nvPr/>
        </p:nvSpPr>
        <p:spPr>
          <a:xfrm>
            <a:off x="822960" y="114300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2F80ED"/>
                </a:solidFill>
              </a:rPr>
              <a:t>CALL VOLUME</a:t>
            </a:r>
            <a:endParaRPr lang="en-US" sz="1000" dirty="0"/>
          </a:p>
        </p:txBody>
      </p:sp>
      <p:sp>
        <p:nvSpPr>
          <p:cNvPr id="7" name="Text 3"/>
          <p:cNvSpPr/>
          <p:nvPr/>
        </p:nvSpPr>
        <p:spPr>
          <a:xfrm>
            <a:off x="6355080" y="1143000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14B8A6"/>
                </a:solidFill>
              </a:rPr>
              <a:t>SALES AMOUNT</a:t>
            </a:r>
            <a:endParaRPr lang="en-US" sz="1000" dirty="0"/>
          </a:p>
        </p:txBody>
      </p:sp>
      <p:sp>
        <p:nvSpPr>
          <p:cNvPr id="8" name="Shape 4"/>
          <p:cNvSpPr/>
          <p:nvPr/>
        </p:nvSpPr>
        <p:spPr>
          <a:xfrm>
            <a:off x="685800" y="5715000"/>
            <a:ext cx="10835640" cy="475488"/>
          </a:xfrm>
          <a:prstGeom prst="roundRect">
            <a:avLst>
              <a:gd name="adj" fmla="val 9615"/>
            </a:avLst>
          </a:prstGeom>
          <a:solidFill>
            <a:srgbClr val="FFF4DE"/>
          </a:solidFill>
          <a:ln w="12700">
            <a:solidFill>
              <a:srgbClr val="F7D58A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914400" y="5852160"/>
            <a:ext cx="10378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70" b="1" dirty="0">
                <a:solidFill>
                  <a:srgbClr val="7A4B00"/>
                </a:solidFill>
              </a:rPr>
              <a:t>Data-quality flag: 1,798 calls have no duration. The workbook links 1,484 of these to “Cancel”, plus busy, missed and not-answered outcomes.</a:t>
            </a:r>
            <a:endParaRPr lang="en-US" sz="1070" dirty="0"/>
          </a:p>
        </p:txBody>
      </p:sp>
      <p:sp>
        <p:nvSpPr>
          <p:cNvPr id="10" name="Shape 6"/>
          <p:cNvSpPr/>
          <p:nvPr/>
        </p:nvSpPr>
        <p:spPr>
          <a:xfrm>
            <a:off x="548640" y="6364224"/>
            <a:ext cx="11109960" cy="0"/>
          </a:xfrm>
          <a:prstGeom prst="line">
            <a:avLst/>
          </a:prstGeom>
          <a:noFill/>
          <a:ln w="8890">
            <a:solidFill>
              <a:srgbClr val="D6E0E8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718096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23B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Offering view: conversion varies materially by service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66928" y="768096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</a:rPr>
              <a:t>Selected requirement rows in the workbook range from 0% to 26% conversion.</a:t>
            </a:r>
            <a:endParaRPr lang="en-US" sz="115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58368" y="1325880"/>
          <a:ext cx="6812280" cy="4032504"/>
        </p:xfrm>
        <a:graphic>
          <a:graphicData uri="http://schemas.openxmlformats.org/drawingml/2006/table">
            <a:tbl>
              <a:tblPr/>
              <a:tblGrid>
                <a:gridCol w="2423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480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Service / requirement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889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Sales amount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889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Calls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889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Closed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889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Conversion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889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80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Full Service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889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1.60M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889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150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889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39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889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26.0%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889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80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Video Service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889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2.26M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889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762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889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78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889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10.24%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889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80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Wedding Video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889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95K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889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53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889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5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889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9.43%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889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80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Reels Video Editing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889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25K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889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14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889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889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7.14%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889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480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Social Media Management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889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81K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889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83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889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4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889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4.82%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889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480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Video Editing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889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495K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889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572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889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27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889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4.72%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889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480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Daily Dose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889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487K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889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1,149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889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38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889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3.31%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889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480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Ads Service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889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5K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889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38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889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889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2.63%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889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658368" y="1325880"/>
            <a:ext cx="7132320" cy="448056"/>
          </a:xfrm>
          <a:prstGeom prst="rect">
            <a:avLst/>
          </a:prstGeom>
          <a:solidFill>
            <a:srgbClr val="123B4A"/>
          </a:solidFill>
          <a:ln w="12700">
            <a:solidFill>
              <a:srgbClr val="123B4A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68096" y="1463040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FFFFFF"/>
                </a:solidFill>
              </a:rPr>
              <a:t>Service / requirement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3108960" y="1463040"/>
            <a:ext cx="1051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FFFFFF"/>
                </a:solidFill>
              </a:rPr>
              <a:t>Sales amount</a:t>
            </a:r>
            <a:endParaRPr lang="en-US" sz="950" dirty="0"/>
          </a:p>
        </p:txBody>
      </p:sp>
      <p:sp>
        <p:nvSpPr>
          <p:cNvPr id="4" name="Text 5"/>
          <p:cNvSpPr/>
          <p:nvPr/>
        </p:nvSpPr>
        <p:spPr>
          <a:xfrm>
            <a:off x="4361688" y="1463040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FFFFFF"/>
                </a:solidFill>
              </a:rPr>
              <a:t>Calls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5340096" y="1463040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FFFFFF"/>
                </a:solidFill>
              </a:rPr>
              <a:t>Closed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6300216" y="1463040"/>
            <a:ext cx="1234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FFFFFF"/>
                </a:solidFill>
              </a:rPr>
              <a:t>Conversion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8092440" y="1325880"/>
            <a:ext cx="3474720" cy="1965960"/>
          </a:xfrm>
          <a:prstGeom prst="roundRect">
            <a:avLst>
              <a:gd name="adj" fmla="val 3721"/>
            </a:avLst>
          </a:prstGeom>
          <a:solidFill>
            <a:srgbClr val="E7F8F5"/>
          </a:solidFill>
          <a:ln w="12700">
            <a:solidFill>
              <a:srgbClr val="B8E8DF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394192" y="1627632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4748B"/>
                </a:solidFill>
              </a:rPr>
              <a:t>Conversion leader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8394192" y="1993392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23B4A"/>
                </a:solidFill>
              </a:rPr>
              <a:t>Full Service</a:t>
            </a:r>
            <a:endParaRPr lang="en-US" sz="2100" dirty="0"/>
          </a:p>
        </p:txBody>
      </p:sp>
      <p:sp>
        <p:nvSpPr>
          <p:cNvPr id="14" name="Text 11"/>
          <p:cNvSpPr/>
          <p:nvPr/>
        </p:nvSpPr>
        <p:spPr>
          <a:xfrm>
            <a:off x="8394192" y="2423160"/>
            <a:ext cx="1234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2E9D68"/>
                </a:solidFill>
              </a:rPr>
              <a:t>26.0%</a:t>
            </a:r>
            <a:endParaRPr lang="en-US" sz="2500" dirty="0"/>
          </a:p>
        </p:txBody>
      </p:sp>
      <p:sp>
        <p:nvSpPr>
          <p:cNvPr id="15" name="Text 12"/>
          <p:cNvSpPr/>
          <p:nvPr/>
        </p:nvSpPr>
        <p:spPr>
          <a:xfrm>
            <a:off x="9802368" y="2542032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39 closes from 150 calls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8092440" y="3566160"/>
            <a:ext cx="347472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DCE5EC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394192" y="3858768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23B4A"/>
                </a:solidFill>
              </a:rPr>
              <a:t>Decision cues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8394192" y="4251960"/>
            <a:ext cx="2788920" cy="12070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r>
              <a:rPr lang="en-US" sz="1100" dirty="0">
                <a:solidFill>
                  <a:srgbClr val="1E293B"/>
                </a:solidFill>
              </a:rPr>
              <a:t>• Protect and scale high-converting Full Service leads.</a:t>
            </a:r>
            <a:endParaRPr lang="en-US" sz="1100" dirty="0"/>
          </a:p>
          <a:p>
            <a:r>
              <a:rPr lang="en-US" sz="1100" dirty="0">
                <a:solidFill>
                  <a:srgbClr val="1E293B"/>
                </a:solidFill>
              </a:rPr>
              <a:t>• Review lead quality and call scripts for high-volume, low-conversion Daily Dose.</a:t>
            </a:r>
            <a:endParaRPr lang="en-US" sz="1100" dirty="0"/>
          </a:p>
          <a:p>
            <a:r>
              <a:rPr lang="en-US" sz="1100" dirty="0">
                <a:solidFill>
                  <a:srgbClr val="1E293B"/>
                </a:solidFill>
              </a:rPr>
              <a:t>• Treat zero-sale offerings as a targeting or portfolio review item.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8183880" y="5961888"/>
            <a:ext cx="3246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80" i="1" dirty="0">
                <a:solidFill>
                  <a:srgbClr val="64748B"/>
                </a:solidFill>
              </a:rPr>
              <a:t>Note: the workbook mixes category and requirement hierarchy rows; values are presented as displayed, not summed.</a:t>
            </a:r>
            <a:endParaRPr lang="en-US" sz="880" dirty="0"/>
          </a:p>
        </p:txBody>
      </p:sp>
      <p:sp>
        <p:nvSpPr>
          <p:cNvPr id="20" name="Shape 17"/>
          <p:cNvSpPr/>
          <p:nvPr/>
        </p:nvSpPr>
        <p:spPr>
          <a:xfrm>
            <a:off x="548640" y="6364224"/>
            <a:ext cx="11109960" cy="0"/>
          </a:xfrm>
          <a:prstGeom prst="line">
            <a:avLst/>
          </a:prstGeom>
          <a:noFill/>
          <a:ln w="8890">
            <a:solidFill>
              <a:srgbClr val="D6E0E8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718096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23B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Concentration and data-quality risks require follow-up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66928" y="768096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</a:rPr>
              <a:t>Two issues could distort stakeholder interpretation if left unexplained.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640080" y="1325880"/>
            <a:ext cx="5440680" cy="4480560"/>
          </a:xfrm>
          <a:prstGeom prst="roundRect">
            <a:avLst>
              <a:gd name="adj" fmla="val 1633"/>
            </a:avLst>
          </a:prstGeom>
          <a:solidFill>
            <a:srgbClr val="FFFFFF"/>
          </a:solidFill>
          <a:ln w="12700">
            <a:solidFill>
              <a:srgbClr val="DCE5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1627632"/>
            <a:ext cx="1298448" cy="310896"/>
          </a:xfrm>
          <a:prstGeom prst="roundRect">
            <a:avLst>
              <a:gd name="adj" fmla="val 23529"/>
            </a:avLst>
          </a:prstGeom>
          <a:solidFill>
            <a:srgbClr val="E05252"/>
          </a:solidFill>
          <a:ln w="12700">
            <a:solidFill>
              <a:srgbClr val="E0525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87552" y="1682496"/>
            <a:ext cx="11521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CONCENTRATION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914400" y="214884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E05252"/>
                </a:solidFill>
              </a:rPr>
              <a:t>41.5%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914400" y="2816352"/>
            <a:ext cx="4480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23B4A"/>
                </a:solidFill>
              </a:rPr>
              <a:t>of total sales amount is associated with one leading identifier in the closed-sales pivot.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14400" y="3840480"/>
            <a:ext cx="4480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</a:rPr>
              <a:t>1.60M sales amount | 39 closed records | 20.5% of all closes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914400" y="4370832"/>
            <a:ext cx="4206240" cy="0"/>
          </a:xfrm>
          <a:prstGeom prst="line">
            <a:avLst/>
          </a:prstGeom>
          <a:noFill/>
          <a:ln w="12700">
            <a:solidFill>
              <a:srgbClr val="DCE5E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4617720"/>
            <a:ext cx="4480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</a:rPr>
              <a:t>Action: verify whether this is a genuine high-value customer, a shared identifier, or an aggregation / duplication effect before presenting customer concentration.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355080" y="1325880"/>
            <a:ext cx="5193792" cy="4480560"/>
          </a:xfrm>
          <a:prstGeom prst="roundRect">
            <a:avLst>
              <a:gd name="adj" fmla="val 1633"/>
            </a:avLst>
          </a:prstGeom>
          <a:solidFill>
            <a:srgbClr val="FFFFFF"/>
          </a:solidFill>
          <a:ln w="12700">
            <a:solidFill>
              <a:srgbClr val="DCE5E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629400" y="1627632"/>
            <a:ext cx="1508760" cy="310896"/>
          </a:xfrm>
          <a:prstGeom prst="roundRect">
            <a:avLst>
              <a:gd name="adj" fmla="val 23529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702552" y="1682496"/>
            <a:ext cx="13624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MEASUREMENT GAP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629400" y="214884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59E0B"/>
                </a:solidFill>
              </a:rPr>
              <a:t>51.3%</a:t>
            </a:r>
            <a:endParaRPr lang="en-US" sz="3600" dirty="0"/>
          </a:p>
        </p:txBody>
      </p:sp>
      <p:sp>
        <p:nvSpPr>
          <p:cNvPr id="16" name="Text 14"/>
          <p:cNvSpPr/>
          <p:nvPr/>
        </p:nvSpPr>
        <p:spPr>
          <a:xfrm>
            <a:off x="6629400" y="2816352"/>
            <a:ext cx="42976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23B4A"/>
                </a:solidFill>
              </a:rPr>
              <a:t>of calls have no duration value, weakening comparisons of call length, outcomes and sales productivity.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629400" y="3840480"/>
            <a:ext cx="4297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</a:rPr>
              <a:t>1,798 calls | 360K sales amount | 1,484 marked “Cancel”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629400" y="4370832"/>
            <a:ext cx="4069080" cy="0"/>
          </a:xfrm>
          <a:prstGeom prst="line">
            <a:avLst/>
          </a:prstGeom>
          <a:noFill/>
          <a:ln w="12700">
            <a:solidFill>
              <a:srgbClr val="DCE5E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629400" y="4617720"/>
            <a:ext cx="4297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</a:rPr>
              <a:t>Action: define duration capture rules by disposition and separate non-connected attempts from connected conversations in the model.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48640" y="6364224"/>
            <a:ext cx="11109960" cy="0"/>
          </a:xfrm>
          <a:prstGeom prst="line">
            <a:avLst/>
          </a:prstGeom>
          <a:noFill/>
          <a:ln w="8890">
            <a:solidFill>
              <a:srgbClr val="D6E0E8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718096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23B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Recommended stakeholder actions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66928" y="768096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</a:rPr>
              <a:t>Focus on repeatability, lead quality and trustworthy measurement.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640080" y="1417320"/>
            <a:ext cx="3337560" cy="4434840"/>
          </a:xfrm>
          <a:prstGeom prst="roundRect">
            <a:avLst>
              <a:gd name="adj" fmla="val 2192"/>
            </a:avLst>
          </a:prstGeom>
          <a:solidFill>
            <a:srgbClr val="FFFFFF"/>
          </a:solidFill>
          <a:ln w="12700">
            <a:solidFill>
              <a:srgbClr val="DCE5EC"/>
            </a:solidFill>
            <a:prstDash val="solid"/>
          </a:ln>
          <a:effectLst>
            <a:outerShdw blurRad="12700" dist="508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1719072"/>
            <a:ext cx="594360" cy="594360"/>
          </a:xfrm>
          <a:prstGeom prst="ellipse">
            <a:avLst/>
          </a:prstGeom>
          <a:solidFill>
            <a:srgbClr val="E05252"/>
          </a:solidFill>
          <a:ln w="12700">
            <a:solidFill>
              <a:srgbClr val="E0525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892808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01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664208" y="1810512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23B4A"/>
                </a:solidFill>
              </a:rPr>
              <a:t>Validate the story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987552" y="2734056"/>
            <a:ext cx="137160" cy="137160"/>
          </a:xfrm>
          <a:prstGeom prst="ellipse">
            <a:avLst/>
          </a:prstGeom>
          <a:solidFill>
            <a:srgbClr val="E05252"/>
          </a:solidFill>
          <a:ln w="12700">
            <a:solidFill>
              <a:srgbClr val="E0525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261872" y="2697480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</a:rPr>
              <a:t>Reconcile the leading identifier responsible for 41.5% of sales.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987552" y="3575304"/>
            <a:ext cx="137160" cy="137160"/>
          </a:xfrm>
          <a:prstGeom prst="ellipse">
            <a:avLst/>
          </a:prstGeom>
          <a:solidFill>
            <a:srgbClr val="E05252"/>
          </a:solidFill>
          <a:ln w="12700">
            <a:solidFill>
              <a:srgbClr val="E0525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61872" y="3538728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</a:rPr>
              <a:t>Confirm whether category and requirement rows overlap in the service pivot.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987552" y="4416552"/>
            <a:ext cx="137160" cy="137160"/>
          </a:xfrm>
          <a:prstGeom prst="ellipse">
            <a:avLst/>
          </a:prstGeom>
          <a:solidFill>
            <a:srgbClr val="E05252"/>
          </a:solidFill>
          <a:ln w="12700">
            <a:solidFill>
              <a:srgbClr val="E0525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61872" y="4379976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</a:rPr>
              <a:t>Document the currency and sales-amount definition.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160520" y="1417320"/>
            <a:ext cx="3337560" cy="4434840"/>
          </a:xfrm>
          <a:prstGeom prst="roundRect">
            <a:avLst>
              <a:gd name="adj" fmla="val 2192"/>
            </a:avLst>
          </a:prstGeom>
          <a:solidFill>
            <a:srgbClr val="FFFFFF"/>
          </a:solidFill>
          <a:ln w="12700">
            <a:solidFill>
              <a:srgbClr val="DCE5EC"/>
            </a:solidFill>
            <a:prstDash val="solid"/>
          </a:ln>
          <a:effectLst>
            <a:outerShdw blurRad="12700" dist="508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434840" y="1719072"/>
            <a:ext cx="594360" cy="59436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434840" y="1892808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02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184648" y="1810512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23B4A"/>
                </a:solidFill>
              </a:rPr>
              <a:t>Scale what worked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4507992" y="2734056"/>
            <a:ext cx="137160" cy="13716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82312" y="2697480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</a:rPr>
              <a:t>Review July lead sources, scripts and offer mix.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507992" y="3575304"/>
            <a:ext cx="137160" cy="13716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82312" y="3538728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</a:rPr>
              <a:t>Prioritize Full Service leads where conversion is 26%.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4507992" y="4416552"/>
            <a:ext cx="137160" cy="13716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82312" y="4379976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</a:rPr>
              <a:t>Replicate July’s sales-per-call playbook.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7680960" y="1417320"/>
            <a:ext cx="3337560" cy="4434840"/>
          </a:xfrm>
          <a:prstGeom prst="roundRect">
            <a:avLst>
              <a:gd name="adj" fmla="val 2192"/>
            </a:avLst>
          </a:prstGeom>
          <a:solidFill>
            <a:srgbClr val="FFFFFF"/>
          </a:solidFill>
          <a:ln w="12700">
            <a:solidFill>
              <a:srgbClr val="DCE5EC"/>
            </a:solidFill>
            <a:prstDash val="solid"/>
          </a:ln>
          <a:effectLst>
            <a:outerShdw blurRad="12700" dist="508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7955280" y="1719072"/>
            <a:ext cx="594360" cy="594360"/>
          </a:xfrm>
          <a:prstGeom prst="ellipse">
            <a:avLst/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955280" y="1892808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03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8705088" y="1810512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23B4A"/>
                </a:solidFill>
              </a:rPr>
              <a:t>Improve the funnel</a:t>
            </a:r>
            <a:endParaRPr lang="en-US" sz="1700" dirty="0"/>
          </a:p>
        </p:txBody>
      </p:sp>
      <p:sp>
        <p:nvSpPr>
          <p:cNvPr id="28" name="Shape 26"/>
          <p:cNvSpPr/>
          <p:nvPr/>
        </p:nvSpPr>
        <p:spPr>
          <a:xfrm>
            <a:off x="8028432" y="2734056"/>
            <a:ext cx="137160" cy="137160"/>
          </a:xfrm>
          <a:prstGeom prst="ellipse">
            <a:avLst/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302752" y="2697480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</a:rPr>
              <a:t>Segment connected vs non-connected calls.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8028432" y="3575304"/>
            <a:ext cx="137160" cy="137160"/>
          </a:xfrm>
          <a:prstGeom prst="ellipse">
            <a:avLst/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302752" y="3538728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</a:rPr>
              <a:t>Address missing duration and disposition standards.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8028432" y="4416552"/>
            <a:ext cx="137160" cy="137160"/>
          </a:xfrm>
          <a:prstGeom prst="ellipse">
            <a:avLst/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302752" y="4379976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</a:rPr>
              <a:t>Track conversion, sales/call and connected-call rate together.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640080" y="6016752"/>
            <a:ext cx="10378440" cy="320040"/>
          </a:xfrm>
          <a:prstGeom prst="roundRect">
            <a:avLst>
              <a:gd name="adj" fmla="val 11429"/>
            </a:avLst>
          </a:prstGeom>
          <a:solidFill>
            <a:srgbClr val="123B4A"/>
          </a:solidFill>
          <a:ln w="12700">
            <a:solidFill>
              <a:srgbClr val="123B4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68680" y="6099048"/>
            <a:ext cx="99212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Suggested scorecard: Sales amount | Calls | Connected calls | Closed sales | Conversion | Sales per call | Missing-duration rate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548640" y="6364224"/>
            <a:ext cx="11109960" cy="0"/>
          </a:xfrm>
          <a:prstGeom prst="line">
            <a:avLst/>
          </a:prstGeom>
          <a:noFill/>
          <a:ln w="8890">
            <a:solidFill>
              <a:srgbClr val="D6E0E8"/>
            </a:solidFill>
            <a:prstDash val="solid"/>
          </a:ln>
        </p:spPr>
      </p:sp>
      <p:sp>
        <p:nvSpPr>
          <p:cNvPr id="3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718096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23B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Appendix: metric definitions and scope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66928" y="768096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</a:rPr>
              <a:t>Values are taken from the workbook’s Dashboard, Dashboard Pivots and EDA Pivots.</a:t>
            </a:r>
            <a:endParaRPr lang="en-US" sz="115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371600"/>
          <a:ext cx="7543800" cy="4023360"/>
        </p:xfrm>
        <a:graphic>
          <a:graphicData uri="http://schemas.openxmlformats.org/drawingml/2006/table">
            <a:tbl>
              <a:tblPr/>
              <a:tblGrid>
                <a:gridCol w="2057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37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48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Metric</a:t>
                      </a:r>
                      <a:endParaRPr lang="en-US" sz="1100" dirty="0"/>
                    </a:p>
                  </a:txBody>
                  <a:tcPr marT="91440" marB="91440">
                    <a:lnL w="889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Definition used</a:t>
                      </a:r>
                      <a:endParaRPr lang="en-US" sz="1100" dirty="0"/>
                    </a:p>
                  </a:txBody>
                  <a:tcPr marT="91440" marB="91440">
                    <a:lnL w="889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Workbook / calculated value</a:t>
                      </a:r>
                      <a:endParaRPr lang="en-US" sz="1100" dirty="0"/>
                    </a:p>
                  </a:txBody>
                  <a:tcPr marT="91440" marB="91440">
                    <a:lnL w="889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Total sales amount</a:t>
                      </a:r>
                      <a:endParaRPr lang="en-US" sz="1100" dirty="0"/>
                    </a:p>
                  </a:txBody>
                  <a:tcPr marT="91440" marB="91440">
                    <a:lnL w="889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Sum of Sales Amount</a:t>
                      </a:r>
                      <a:endParaRPr lang="en-US" sz="1100" dirty="0"/>
                    </a:p>
                  </a:txBody>
                  <a:tcPr marT="91440" marB="91440">
                    <a:lnL w="889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3,843,500</a:t>
                      </a:r>
                      <a:endParaRPr lang="en-US" sz="1100" dirty="0"/>
                    </a:p>
                  </a:txBody>
                  <a:tcPr marT="91440" marB="91440">
                    <a:lnL w="889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Total calls</a:t>
                      </a:r>
                      <a:endParaRPr lang="en-US" sz="1100" dirty="0"/>
                    </a:p>
                  </a:txBody>
                  <a:tcPr marT="91440" marB="91440">
                    <a:lnL w="889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Count / total calls in dashboard pivot</a:t>
                      </a:r>
                      <a:endParaRPr lang="en-US" sz="1100" dirty="0"/>
                    </a:p>
                  </a:txBody>
                  <a:tcPr marT="91440" marB="91440">
                    <a:lnL w="889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3,508</a:t>
                      </a:r>
                      <a:endParaRPr lang="en-US" sz="1100" dirty="0"/>
                    </a:p>
                  </a:txBody>
                  <a:tcPr marT="91440" marB="91440">
                    <a:lnL w="889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Closed sales</a:t>
                      </a:r>
                      <a:endParaRPr lang="en-US" sz="1100" dirty="0"/>
                    </a:p>
                  </a:txBody>
                  <a:tcPr marT="91440" marB="91440">
                    <a:lnL w="889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Closed sales records / flag</a:t>
                      </a:r>
                      <a:endParaRPr lang="en-US" sz="1100" dirty="0"/>
                    </a:p>
                  </a:txBody>
                  <a:tcPr marT="91440" marB="91440">
                    <a:lnL w="889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190</a:t>
                      </a:r>
                      <a:endParaRPr lang="en-US" sz="1100" dirty="0"/>
                    </a:p>
                  </a:txBody>
                  <a:tcPr marT="91440" marB="91440">
                    <a:lnL w="889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Close rate</a:t>
                      </a:r>
                      <a:endParaRPr lang="en-US" sz="1100" dirty="0"/>
                    </a:p>
                  </a:txBody>
                  <a:tcPr marT="91440" marB="91440">
                    <a:lnL w="889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Closed sales ÷ total calls</a:t>
                      </a:r>
                      <a:endParaRPr lang="en-US" sz="1100" dirty="0"/>
                    </a:p>
                  </a:txBody>
                  <a:tcPr marT="91440" marB="91440">
                    <a:lnL w="889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5.416%</a:t>
                      </a:r>
                      <a:endParaRPr lang="en-US" sz="1100" dirty="0"/>
                    </a:p>
                  </a:txBody>
                  <a:tcPr marT="91440" marB="91440">
                    <a:lnL w="889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Average duration</a:t>
                      </a:r>
                      <a:endParaRPr lang="en-US" sz="1100" dirty="0"/>
                    </a:p>
                  </a:txBody>
                  <a:tcPr marT="91440" marB="91440">
                    <a:lnL w="889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Average DurationSeconds in dashboard pivot</a:t>
                      </a:r>
                      <a:endParaRPr lang="en-US" sz="1100" dirty="0"/>
                    </a:p>
                  </a:txBody>
                  <a:tcPr marT="91440" marB="91440">
                    <a:lnL w="889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65.63 sec</a:t>
                      </a:r>
                      <a:endParaRPr lang="en-US" sz="1100" dirty="0"/>
                    </a:p>
                  </a:txBody>
                  <a:tcPr marT="91440" marB="91440">
                    <a:lnL w="889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Sales per call</a:t>
                      </a:r>
                      <a:endParaRPr lang="en-US" sz="1100" dirty="0"/>
                    </a:p>
                  </a:txBody>
                  <a:tcPr marT="91440" marB="91440">
                    <a:lnL w="889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Total sales amount ÷ total calls</a:t>
                      </a:r>
                      <a:endParaRPr lang="en-US" sz="1100" dirty="0"/>
                    </a:p>
                  </a:txBody>
                  <a:tcPr marT="91440" marB="91440">
                    <a:lnL w="889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1,095.64</a:t>
                      </a:r>
                      <a:endParaRPr lang="en-US" sz="1100" dirty="0"/>
                    </a:p>
                  </a:txBody>
                  <a:tcPr marT="91440" marB="91440">
                    <a:lnL w="889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Sales per closed sale</a:t>
                      </a:r>
                      <a:endParaRPr lang="en-US" sz="1100" dirty="0"/>
                    </a:p>
                  </a:txBody>
                  <a:tcPr marT="91440" marB="91440">
                    <a:lnL w="889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Total sales amount ÷ closed sales</a:t>
                      </a:r>
                      <a:endParaRPr lang="en-US" sz="1100" dirty="0"/>
                    </a:p>
                  </a:txBody>
                  <a:tcPr marT="91440" marB="91440">
                    <a:lnL w="889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20,228.95</a:t>
                      </a:r>
                      <a:endParaRPr lang="en-US" sz="1100" dirty="0"/>
                    </a:p>
                  </a:txBody>
                  <a:tcPr marT="91440" marB="91440">
                    <a:lnL w="889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685800" y="1371600"/>
            <a:ext cx="7543800" cy="502920"/>
          </a:xfrm>
          <a:prstGeom prst="rect">
            <a:avLst/>
          </a:prstGeom>
          <a:solidFill>
            <a:srgbClr val="123B4A"/>
          </a:solidFill>
          <a:ln w="12700">
            <a:solidFill>
              <a:srgbClr val="123B4A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22960" y="153619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Metric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2834640" y="1536192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Definition used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6080760" y="1536192"/>
            <a:ext cx="1965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FFFFFF"/>
                </a:solidFill>
              </a:rPr>
              <a:t>Workbook / calculated value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8549640" y="1371600"/>
            <a:ext cx="2971800" cy="4343400"/>
          </a:xfrm>
          <a:prstGeom prst="roundRect">
            <a:avLst>
              <a:gd name="adj" fmla="val 2462"/>
            </a:avLst>
          </a:prstGeom>
          <a:solidFill>
            <a:srgbClr val="FFF4DE"/>
          </a:solidFill>
          <a:ln w="12700">
            <a:solidFill>
              <a:srgbClr val="F7D58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851392" y="16916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23B4A"/>
                </a:solidFill>
              </a:rPr>
              <a:t>Scope notes</a:t>
            </a:r>
            <a:endParaRPr lang="en-US" sz="1600" dirty="0"/>
          </a:p>
        </p:txBody>
      </p:sp>
      <p:sp>
        <p:nvSpPr>
          <p:cNvPr id="4" name="Text 8"/>
          <p:cNvSpPr/>
          <p:nvPr/>
        </p:nvSpPr>
        <p:spPr>
          <a:xfrm>
            <a:off x="8851392" y="2148840"/>
            <a:ext cx="2331720" cy="30632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</a:rPr>
              <a:t>• Period labels displayed: March through July.</a:t>
            </a:r>
            <a:endParaRPr lang="en-US" sz="1150" dirty="0"/>
          </a:p>
          <a:p>
            <a:pPr marL="0" indent="0">
              <a:buNone/>
            </a:pP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</a:rPr>
              <a:t>• The workbook does not explicitly identify the calendar year in the visible pivot output.</a:t>
            </a:r>
            <a:endParaRPr lang="en-US" sz="1150" dirty="0"/>
          </a:p>
          <a:p>
            <a:pPr marL="0" indent="0">
              <a:buNone/>
            </a:pP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</a:rPr>
              <a:t>• Currency is not explicitly defined in the source, so this deck uses “sales amount” without a currency symbol.</a:t>
            </a:r>
            <a:endParaRPr lang="en-US" sz="1150" dirty="0"/>
          </a:p>
          <a:p>
            <a:pPr marL="0" indent="0">
              <a:buNone/>
            </a:pP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</a:rPr>
              <a:t>• Product rows appear to mix category and requirement hierarchy levels and should not be summed without model validation.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548640" y="6364224"/>
            <a:ext cx="11109960" cy="0"/>
          </a:xfrm>
          <a:prstGeom prst="line">
            <a:avLst/>
          </a:prstGeom>
          <a:noFill/>
          <a:ln w="8890">
            <a:solidFill>
              <a:srgbClr val="D6E0E8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718096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10</Slides>
  <Notes>10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Foresters Financial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Sales Performance and Call Conversion Review</dc:title>
  <dc:subject>Stakeholder analysis of Sales.xlsx</dc:subject>
  <dc:creator>Milkha Varghese</dc:creator>
  <cp:lastModifiedBy>Milkha Varghese</cp:lastModifiedBy>
  <cp:revision>2</cp:revision>
  <dcterms:created xsi:type="dcterms:W3CDTF">2026-08-27T02:43:43Z</dcterms:created>
  <dcterms:modified xsi:type="dcterms:W3CDTF">2026-08-27T06:52:35Z</dcterms:modified>
</cp:coreProperties>
</file>